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0080625" cy="5670550"/>
  <p:notesSz cx="7559675" cy="106914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0404A27-0401-4AD0-80F4-9B8BEE716A77}" type="slidenum">
              <a:rPr/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Arial" panose="020B0604020202020204"/>
              </a:rPr>
              <a:t>Click to edit the title text format</a:t>
            </a:r>
            <a:endParaRPr lang="en-US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 panose="020B0604020202020204"/>
              </a:rPr>
              <a:t>Click to edit the outline text format</a:t>
            </a:r>
            <a:endParaRPr lang="en-US" sz="3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Arial" panose="020B0604020202020204"/>
              </a:rPr>
              <a:t>Second Outline Level</a:t>
            </a: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 panose="020B0604020202020204"/>
              </a:rPr>
              <a:t>Third Outline Level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Fourth Outline Level</a:t>
            </a:r>
            <a:endParaRPr lang="en-US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Fifth Outline Level</a:t>
            </a:r>
            <a:endParaRPr lang="en-US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Sixth Outline Level</a:t>
            </a:r>
            <a:endParaRPr lang="en-US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Seventh Outline Level</a:t>
            </a:r>
            <a:endParaRPr lang="en-US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&lt;date/time&gt;</a:t>
            </a:r>
            <a:endParaRPr lang="en-US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&lt;footer&gt;</a:t>
            </a:r>
            <a:endParaRPr lang="en-US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 algn="r">
              <a:buNone/>
            </a:pPr>
            <a:fld id="{5C9DCF5A-8577-4863-B7D5-A9DA37D5D694}" type="slidenum"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</a:fld>
            <a:endParaRPr lang="en-US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6"/>
          <p:cNvSpPr txBox="1"/>
          <p:nvPr/>
        </p:nvSpPr>
        <p:spPr>
          <a:xfrm>
            <a:off x="3038475" y="133985"/>
            <a:ext cx="3427095" cy="2994660"/>
          </a:xfrm>
          <a:prstGeom prst="rect">
            <a:avLst/>
          </a:prstGeom>
          <a:noFill/>
          <a:ln w="0">
            <a:solidFill>
              <a:srgbClr val="BF0041"/>
            </a:solidFill>
          </a:ln>
        </p:spPr>
        <p:txBody>
          <a:bodyPr lIns="90000" tIns="45000" rIns="90000" bIns="45000" anchor="t">
            <a:noAutofit/>
          </a:bodyPr>
          <a:p>
            <a:r>
              <a:rPr lang="en-US" sz="1400" b="1" strike="noStrike" spc="-1">
                <a:solidFill>
                  <a:srgbClr val="000000"/>
                </a:solidFill>
                <a:latin typeface="Arial" panose="020B0604020202020204"/>
              </a:rPr>
              <a:t>RAMSIS modules: 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5900" indent="-215900">
              <a:lnSpc>
                <a:spcPct val="100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Char char=""/>
            </a:pPr>
            <a:r>
              <a:rPr lang="en-US" sz="1400" b="0" strike="noStrike" spc="-1">
                <a:solidFill>
                  <a:srgbClr val="000000"/>
                </a:solidFill>
                <a:latin typeface="Arial" panose="020B0604020202020204"/>
              </a:rPr>
              <a:t>Anthropometry Module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5900" indent="-215900">
              <a:lnSpc>
                <a:spcPct val="100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Char char=""/>
            </a:pPr>
            <a:r>
              <a:rPr lang="en-US" sz="1400" b="0" strike="noStrike" spc="-1">
                <a:solidFill>
                  <a:srgbClr val="000000"/>
                </a:solidFill>
                <a:latin typeface="Arial" panose="020B0604020202020204"/>
              </a:rPr>
              <a:t>Posture Prediction Module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5900" indent="-215900">
              <a:lnSpc>
                <a:spcPct val="100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Char char=""/>
            </a:pPr>
            <a:r>
              <a:rPr lang="en-US" sz="1400" b="0" strike="noStrike" spc="-1">
                <a:solidFill>
                  <a:srgbClr val="000000"/>
                </a:solidFill>
                <a:latin typeface="Arial" panose="020B0604020202020204"/>
              </a:rPr>
              <a:t>Reach Analysis Module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5900" indent="-215900">
              <a:lnSpc>
                <a:spcPct val="100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Char char=""/>
            </a:pPr>
            <a:r>
              <a:rPr lang="en-US" sz="1400" b="0" strike="noStrike" spc="-1">
                <a:solidFill>
                  <a:srgbClr val="000000"/>
                </a:solidFill>
                <a:latin typeface="Arial" panose="020B0604020202020204"/>
              </a:rPr>
              <a:t>Vision Module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5900" indent="-215900">
              <a:lnSpc>
                <a:spcPct val="100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Char char=""/>
            </a:pPr>
            <a:r>
              <a:rPr lang="en-US" sz="1400" b="0" strike="noStrike" spc="-1">
                <a:solidFill>
                  <a:srgbClr val="000000"/>
                </a:solidFill>
                <a:latin typeface="Arial" panose="020B0604020202020204"/>
              </a:rPr>
              <a:t>Comfort Module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5900" indent="-215900">
              <a:lnSpc>
                <a:spcPct val="100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Char char=""/>
            </a:pPr>
            <a:r>
              <a:rPr lang="en-US" sz="1400" b="0" strike="noStrike" spc="-1">
                <a:solidFill>
                  <a:srgbClr val="000000"/>
                </a:solidFill>
                <a:latin typeface="Arial" panose="020B0604020202020204"/>
              </a:rPr>
              <a:t>Ingress/Egress Module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5900" indent="-215900">
              <a:lnSpc>
                <a:spcPct val="100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Char char=""/>
            </a:pPr>
            <a:r>
              <a:rPr lang="en-US" sz="1400" b="0" strike="noStrike" spc="-1">
                <a:solidFill>
                  <a:srgbClr val="000000"/>
                </a:solidFill>
                <a:latin typeface="Arial" panose="020B0604020202020204"/>
              </a:rPr>
              <a:t>Cognitive module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indent="0">
              <a:lnSpc>
                <a:spcPct val="100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r>
              <a:rPr lang="en-US" sz="1400" b="1" strike="noStrike" spc="-1">
                <a:solidFill>
                  <a:srgbClr val="000000"/>
                </a:solidFill>
                <a:latin typeface="Arial" panose="020B0604020202020204"/>
                <a:ea typeface="Times New Roman" panose="02020603050405020304"/>
              </a:rPr>
              <a:t>Gaps and Limitations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61620" indent="-243205">
              <a:lnSpc>
                <a:spcPct val="100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300" b="0" strike="noStrike" spc="-1">
                <a:solidFill>
                  <a:srgbClr val="000000"/>
                </a:solidFill>
                <a:latin typeface="Arial" panose="020B0604020202020204"/>
                <a:ea typeface="Times New Roman" panose="02020603050405020304"/>
              </a:rPr>
              <a:t>Limited musculoskeletal analysis </a:t>
            </a:r>
            <a:endParaRPr lang="en-US" sz="13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61620" indent="-243205">
              <a:lnSpc>
                <a:spcPct val="100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300" b="0" strike="noStrike" spc="-1">
                <a:solidFill>
                  <a:srgbClr val="000000"/>
                </a:solidFill>
                <a:latin typeface="Arial" panose="020B0604020202020204"/>
                <a:ea typeface="Times New Roman" panose="02020603050405020304"/>
              </a:rPr>
              <a:t>Cannot accurately predict muscle forces </a:t>
            </a:r>
            <a:endParaRPr lang="en-US" sz="13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61620" indent="-243205">
              <a:lnSpc>
                <a:spcPct val="100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300" b="0" strike="noStrike" spc="-1">
                <a:solidFill>
                  <a:srgbClr val="000000"/>
                </a:solidFill>
                <a:latin typeface="Arial" panose="020B0604020202020204"/>
                <a:ea typeface="Times New Roman" panose="02020603050405020304"/>
              </a:rPr>
              <a:t>Primarily focused on automotive systems </a:t>
            </a:r>
            <a:endParaRPr lang="en-US" sz="13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61620" indent="-243205">
              <a:lnSpc>
                <a:spcPct val="100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300" b="0" strike="noStrike" spc="-1">
                <a:solidFill>
                  <a:srgbClr val="000000"/>
                </a:solidFill>
                <a:latin typeface="Arial" panose="020B0604020202020204"/>
                <a:ea typeface="Times New Roman" panose="02020603050405020304"/>
              </a:rPr>
              <a:t>Not for maintenance task</a:t>
            </a:r>
            <a:endParaRPr lang="en-US" sz="13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80010" y="86360"/>
            <a:ext cx="2820035" cy="5438140"/>
          </a:xfrm>
          <a:prstGeom prst="rect">
            <a:avLst/>
          </a:prstGeom>
          <a:noFill/>
          <a:ln w="0">
            <a:solidFill>
              <a:srgbClr val="481D32"/>
            </a:solidFill>
          </a:ln>
        </p:spPr>
        <p:txBody>
          <a:bodyPr lIns="90000" tIns="45000" rIns="90000" bIns="45000" anchor="t">
            <a:noAutofit/>
          </a:bodyPr>
          <a:p>
            <a:pPr indent="0">
              <a:lnSpc>
                <a:spcPct val="100000"/>
              </a:lnSpc>
              <a:buClr>
                <a:srgbClr val="000000"/>
              </a:buClr>
              <a:buFont typeface="OpenSymbol"/>
              <a:buNone/>
            </a:pPr>
            <a:r>
              <a:rPr lang="en-US" sz="1400" b="1" strike="noStrike" spc="-1">
                <a:solidFill>
                  <a:srgbClr val="000000"/>
                </a:solidFill>
                <a:latin typeface="Arial" panose="020B0604020202020204"/>
              </a:rPr>
              <a:t>DIPAS Indigenous HSI-DHM Software modules: proposed</a:t>
            </a:r>
            <a:r>
              <a:rPr lang="en-US" sz="1400" b="0" strike="noStrike" spc="-1">
                <a:solidFill>
                  <a:srgbClr val="000000"/>
                </a:solidFill>
                <a:latin typeface="Arial" panose="020B0604020202020204"/>
              </a:rPr>
              <a:t> 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5900" indent="-2159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lang="en-US" sz="1400" b="0" strike="noStrike" spc="-1">
                <a:solidFill>
                  <a:srgbClr val="000000"/>
                </a:solidFill>
                <a:latin typeface="Arial" panose="020B0604020202020204"/>
              </a:rPr>
              <a:t>Anthropometry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5900" indent="-2159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lang="en-US" sz="1400" b="0" strike="noStrike" spc="-1">
                <a:solidFill>
                  <a:srgbClr val="000000"/>
                </a:solidFill>
                <a:latin typeface="Arial" panose="020B0604020202020204"/>
              </a:rPr>
              <a:t>Biomechanical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5900" indent="-2159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lang="en-US" sz="1400" b="0" strike="noStrike" spc="-1">
                <a:solidFill>
                  <a:srgbClr val="000000"/>
                </a:solidFill>
                <a:latin typeface="Arial" panose="020B0604020202020204"/>
              </a:rPr>
              <a:t>Multi-Body Dynamics and Biomechanics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5900" indent="-2159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lang="en-US" sz="1400" b="0" strike="noStrike" spc="-1">
                <a:solidFill>
                  <a:srgbClr val="000000"/>
                </a:solidFill>
                <a:latin typeface="Arial" panose="020B0604020202020204"/>
              </a:rPr>
              <a:t>Posture and Motion Capture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5900" indent="-2159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lang="en-US" sz="1400" b="0" strike="noStrike" spc="-1">
                <a:solidFill>
                  <a:srgbClr val="000000"/>
                </a:solidFill>
                <a:latin typeface="Arial" panose="020B0604020202020204"/>
              </a:rPr>
              <a:t>Reach Envelope, Vision &amp; Situational Awareness Analysis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5900" indent="-2159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lang="en-US" sz="1400" b="0" strike="noStrike" spc="-1">
                <a:solidFill>
                  <a:srgbClr val="000000"/>
                </a:solidFill>
                <a:latin typeface="Arial" panose="020B0604020202020204"/>
              </a:rPr>
              <a:t>Body composition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5900" indent="-2159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lang="en-US" sz="1400" b="0" strike="noStrike" spc="-1">
                <a:solidFill>
                  <a:srgbClr val="000000"/>
                </a:solidFill>
                <a:latin typeface="Arial" panose="020B0604020202020204"/>
              </a:rPr>
              <a:t>Physiological 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5900" indent="-2159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lang="en-US" sz="1400" b="0" strike="noStrike" spc="-1">
                <a:solidFill>
                  <a:srgbClr val="000000"/>
                </a:solidFill>
                <a:latin typeface="Arial" panose="020B0604020202020204"/>
              </a:rPr>
              <a:t>Cognitive 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5900" indent="-2159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lang="en-US" sz="1400" b="0" strike="noStrike" spc="-1">
                <a:solidFill>
                  <a:srgbClr val="000000"/>
                </a:solidFill>
                <a:latin typeface="Arial" panose="020B0604020202020204"/>
              </a:rPr>
              <a:t>Ergonomics 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5900" indent="-2159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lang="en-US" sz="1400" b="0" strike="noStrike" spc="-1">
                <a:solidFill>
                  <a:srgbClr val="000000"/>
                </a:solidFill>
                <a:latin typeface="Arial" panose="020B0604020202020204"/>
              </a:rPr>
              <a:t>Motion Capture &amp; AI Integration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5900" indent="-2159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lang="en-US" sz="1400" b="0" strike="noStrike" spc="-1">
                <a:solidFill>
                  <a:srgbClr val="000000"/>
                </a:solidFill>
                <a:latin typeface="Arial" panose="020B0604020202020204"/>
              </a:rPr>
              <a:t>Environmental Simulation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5900" indent="-2159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lang="en-US" sz="1400" b="0" strike="noStrike" spc="-1">
                <a:solidFill>
                  <a:srgbClr val="000000"/>
                </a:solidFill>
                <a:latin typeface="Arial" panose="020B0604020202020204"/>
              </a:rPr>
              <a:t>Noise &amp; Vibration Simulation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5900" indent="-2159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lang="en-US" sz="1400" b="0" strike="noStrike" spc="-1">
                <a:solidFill>
                  <a:srgbClr val="000000"/>
                </a:solidFill>
                <a:latin typeface="Arial" panose="020B0604020202020204"/>
              </a:rPr>
              <a:t>Military Platform Task Simulation &amp; Libraries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5900" indent="-2159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lang="en-US" sz="1400" b="0" strike="noStrike" spc="-1">
                <a:solidFill>
                  <a:srgbClr val="000000"/>
                </a:solidFill>
                <a:latin typeface="Arial" panose="020B0604020202020204"/>
              </a:rPr>
              <a:t>VR, AR &amp; XR Integration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5900" indent="-2159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lang="en-US" sz="1400" b="0" strike="noStrike" spc="-1">
                <a:solidFill>
                  <a:srgbClr val="000000"/>
                </a:solidFill>
                <a:latin typeface="Arial" panose="020B0604020202020204"/>
              </a:rPr>
              <a:t>Unified Human Performance Dashboard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5900" indent="-2159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lang="en-US" sz="1400" b="0" strike="noStrike" spc="-1">
                <a:solidFill>
                  <a:srgbClr val="000000"/>
                </a:solidFill>
                <a:latin typeface="Arial" panose="020B0604020202020204"/>
              </a:rPr>
              <a:t>Secure CAD &amp; Data Integration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6525895" y="48895"/>
            <a:ext cx="3460115" cy="2599055"/>
          </a:xfrm>
          <a:prstGeom prst="rect">
            <a:avLst/>
          </a:prstGeom>
          <a:noFill/>
          <a:ln w="0">
            <a:solidFill>
              <a:srgbClr val="BF0041"/>
            </a:solidFill>
          </a:ln>
        </p:spPr>
        <p:txBody>
          <a:bodyPr lIns="90000" tIns="45000" rIns="90000" bIns="45000" anchor="t">
            <a:noAutofit/>
          </a:bodyPr>
          <a:p>
            <a:r>
              <a:rPr lang="en-US" sz="1400" b="1" strike="noStrike" spc="-1">
                <a:solidFill>
                  <a:srgbClr val="000000"/>
                </a:solidFill>
                <a:latin typeface="Arial" panose="020B0604020202020204"/>
              </a:rPr>
              <a:t>JACK modules: 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5900" indent="-215900">
              <a:lnSpc>
                <a:spcPct val="100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Char char=""/>
            </a:pPr>
            <a:r>
              <a:rPr lang="en-US" sz="1400" b="0" strike="noStrike" spc="-1">
                <a:solidFill>
                  <a:srgbClr val="000000"/>
                </a:solidFill>
                <a:latin typeface="Arial" panose="020B0604020202020204"/>
              </a:rPr>
              <a:t>Human Modeling Module</a:t>
            </a:r>
            <a:endParaRPr lang="en-US" sz="1400" b="0" strike="noStrike" spc="-1">
              <a:solidFill>
                <a:srgbClr val="000000"/>
              </a:solidFill>
              <a:latin typeface="Times New Roman" panose="02020603050405020304"/>
              <a:ea typeface="Times New Roman" panose="02020603050405020304"/>
            </a:endParaRPr>
          </a:p>
          <a:p>
            <a:pPr marL="215900" indent="-215900">
              <a:lnSpc>
                <a:spcPct val="100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Char char=""/>
            </a:pPr>
            <a:r>
              <a:rPr lang="en-US" sz="1400" b="0" strike="noStrike" spc="-1">
                <a:solidFill>
                  <a:srgbClr val="000000"/>
                </a:solidFill>
                <a:latin typeface="Arial" panose="020B0604020202020204"/>
              </a:rPr>
              <a:t>Reach Analysis Module</a:t>
            </a:r>
            <a:endParaRPr lang="en-US" sz="1400" b="0" strike="noStrike" spc="-1">
              <a:solidFill>
                <a:srgbClr val="000000"/>
              </a:solidFill>
              <a:latin typeface="Times New Roman" panose="02020603050405020304"/>
              <a:ea typeface="Times New Roman" panose="02020603050405020304"/>
            </a:endParaRPr>
          </a:p>
          <a:p>
            <a:pPr marL="215900" indent="-215900">
              <a:lnSpc>
                <a:spcPct val="100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Char char=""/>
            </a:pPr>
            <a:r>
              <a:rPr lang="en-US" sz="1400" b="0" strike="noStrike" spc="-1">
                <a:solidFill>
                  <a:srgbClr val="000000"/>
                </a:solidFill>
                <a:latin typeface="Arial" panose="020B0604020202020204"/>
              </a:rPr>
              <a:t>Vision Analysis Module</a:t>
            </a:r>
            <a:endParaRPr lang="en-US" sz="1400" b="0" strike="noStrike" spc="-1">
              <a:solidFill>
                <a:srgbClr val="000000"/>
              </a:solidFill>
              <a:latin typeface="Times New Roman" panose="02020603050405020304"/>
              <a:ea typeface="Times New Roman" panose="02020603050405020304"/>
            </a:endParaRPr>
          </a:p>
          <a:p>
            <a:pPr marL="215900" indent="-215900">
              <a:lnSpc>
                <a:spcPct val="100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Char char=""/>
            </a:pPr>
            <a:r>
              <a:rPr lang="en-US" sz="1400" b="0" strike="noStrike" spc="-1">
                <a:solidFill>
                  <a:srgbClr val="000000"/>
                </a:solidFill>
                <a:latin typeface="Arial" panose="020B0604020202020204"/>
              </a:rPr>
              <a:t>Task Analysis Module</a:t>
            </a:r>
            <a:endParaRPr lang="en-US" sz="1400" b="0" strike="noStrike" spc="-1">
              <a:solidFill>
                <a:srgbClr val="000000"/>
              </a:solidFill>
              <a:latin typeface="Times New Roman" panose="02020603050405020304"/>
              <a:ea typeface="Times New Roman" panose="02020603050405020304"/>
            </a:endParaRPr>
          </a:p>
          <a:p>
            <a:pPr marL="215900" indent="-215900">
              <a:lnSpc>
                <a:spcPct val="100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Char char=""/>
            </a:pPr>
            <a:r>
              <a:rPr lang="en-US" sz="1400" b="0" strike="noStrike" spc="-1">
                <a:solidFill>
                  <a:srgbClr val="000000"/>
                </a:solidFill>
                <a:latin typeface="Arial" panose="020B0604020202020204"/>
              </a:rPr>
              <a:t>Ergonomic Assessment Module</a:t>
            </a:r>
            <a:endParaRPr lang="en-US" sz="1400" b="0" strike="noStrike" spc="-1">
              <a:solidFill>
                <a:srgbClr val="000000"/>
              </a:solidFill>
              <a:latin typeface="Times New Roman" panose="02020603050405020304"/>
              <a:ea typeface="Times New Roman" panose="02020603050405020304"/>
            </a:endParaRPr>
          </a:p>
          <a:p>
            <a:pPr marL="215900" indent="-215900">
              <a:lnSpc>
                <a:spcPct val="100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Char char=""/>
            </a:pPr>
            <a:r>
              <a:rPr lang="en-US" sz="1400" b="0" strike="noStrike" spc="-1">
                <a:solidFill>
                  <a:srgbClr val="000000"/>
                </a:solidFill>
                <a:latin typeface="Arial" panose="020B0604020202020204"/>
              </a:rPr>
              <a:t>VR Integration Module</a:t>
            </a:r>
            <a:endParaRPr lang="en-US" sz="1400" b="0" strike="noStrike" spc="-1">
              <a:solidFill>
                <a:srgbClr val="000000"/>
              </a:solidFill>
              <a:latin typeface="Times New Roman" panose="02020603050405020304"/>
              <a:ea typeface="Times New Roman" panose="02020603050405020304"/>
            </a:endParaRPr>
          </a:p>
          <a:p>
            <a:pPr indent="0">
              <a:lnSpc>
                <a:spcPct val="100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r>
              <a:rPr lang="en-US" sz="1400" b="1" strike="noStrike" spc="-1">
                <a:solidFill>
                  <a:srgbClr val="000000"/>
                </a:solidFill>
                <a:latin typeface="Arial" panose="020B0604020202020204"/>
                <a:ea typeface="Times New Roman" panose="02020603050405020304"/>
              </a:rPr>
              <a:t>Gaps and Limitations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31140" indent="-231140">
              <a:lnSpc>
                <a:spcPct val="100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 panose="020B0604020202020204"/>
                <a:ea typeface="Times New Roman" panose="02020603050405020304"/>
              </a:rPr>
              <a:t>Simplified biomechanics </a:t>
            </a:r>
            <a:endParaRPr lang="en-US" sz="1400" b="0" strike="noStrike" spc="-1">
              <a:solidFill>
                <a:srgbClr val="000000"/>
              </a:solidFill>
              <a:latin typeface="Times New Roman" panose="02020603050405020304"/>
              <a:ea typeface="Times New Roman" panose="02020603050405020304"/>
            </a:endParaRPr>
          </a:p>
          <a:p>
            <a:pPr marL="231140" indent="-231140">
              <a:lnSpc>
                <a:spcPct val="100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 panose="020B0604020202020204"/>
                <a:ea typeface="Times New Roman" panose="02020603050405020304"/>
              </a:rPr>
              <a:t>Limited muscle force prediction </a:t>
            </a:r>
            <a:endParaRPr lang="en-US" sz="1400" b="0" strike="noStrike" spc="-1">
              <a:solidFill>
                <a:srgbClr val="000000"/>
              </a:solidFill>
              <a:latin typeface="Times New Roman" panose="02020603050405020304"/>
              <a:ea typeface="Times New Roman" panose="02020603050405020304"/>
            </a:endParaRPr>
          </a:p>
          <a:p>
            <a:pPr marL="231140" indent="-231140">
              <a:lnSpc>
                <a:spcPct val="100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 panose="020B0604020202020204"/>
                <a:ea typeface="Times New Roman" panose="02020603050405020304"/>
              </a:rPr>
              <a:t>Accuracy depends on anthropometric database quality </a:t>
            </a:r>
            <a:endParaRPr lang="en-US" sz="1400" b="0" strike="noStrike" spc="-1">
              <a:solidFill>
                <a:srgbClr val="000000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6521450" y="2719705"/>
            <a:ext cx="3500755" cy="2879725"/>
          </a:xfrm>
          <a:prstGeom prst="rect">
            <a:avLst/>
          </a:prstGeom>
          <a:noFill/>
          <a:ln w="0">
            <a:solidFill>
              <a:srgbClr val="BF0041"/>
            </a:solidFill>
          </a:ln>
        </p:spPr>
        <p:txBody>
          <a:bodyPr lIns="90000" tIns="45000" rIns="90000" bIns="45000" anchor="t">
            <a:noAutofit/>
          </a:bodyPr>
          <a:p>
            <a:r>
              <a:rPr lang="en-US" sz="1400" b="1" strike="noStrike" spc="-1">
                <a:solidFill>
                  <a:srgbClr val="000000"/>
                </a:solidFill>
                <a:latin typeface="Arial" panose="020B0604020202020204"/>
              </a:rPr>
              <a:t>ANYBODY modules: 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5900" indent="-215900">
              <a:lnSpc>
                <a:spcPct val="100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Char char=""/>
            </a:pPr>
            <a:r>
              <a:rPr lang="en-US" sz="1400" b="0" strike="noStrike" spc="-1">
                <a:solidFill>
                  <a:srgbClr val="000000"/>
                </a:solidFill>
                <a:latin typeface="Arial" panose="020B0604020202020204"/>
                <a:ea typeface="Times New Roman" panose="02020603050405020304"/>
              </a:rPr>
              <a:t>Musculoskeletal Module</a:t>
            </a:r>
            <a:endParaRPr lang="en-US" sz="1400" b="0" strike="noStrike" spc="-1">
              <a:solidFill>
                <a:srgbClr val="000000"/>
              </a:solidFill>
              <a:latin typeface="Times New Roman" panose="02020603050405020304"/>
              <a:ea typeface="Times New Roman" panose="02020603050405020304"/>
            </a:endParaRPr>
          </a:p>
          <a:p>
            <a:pPr marL="215900" indent="-215900">
              <a:lnSpc>
                <a:spcPct val="100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Char char=""/>
            </a:pPr>
            <a:r>
              <a:rPr lang="en-US" sz="1400" b="0" strike="noStrike" spc="-1">
                <a:solidFill>
                  <a:srgbClr val="000000"/>
                </a:solidFill>
                <a:latin typeface="Arial" panose="020B0604020202020204"/>
                <a:ea typeface="Times New Roman" panose="02020603050405020304"/>
              </a:rPr>
              <a:t>Motion Capture Module</a:t>
            </a:r>
            <a:endParaRPr lang="en-US" sz="1400" b="0" strike="noStrike" spc="-1">
              <a:solidFill>
                <a:srgbClr val="000000"/>
              </a:solidFill>
              <a:latin typeface="Times New Roman" panose="02020603050405020304"/>
              <a:ea typeface="Times New Roman" panose="02020603050405020304"/>
            </a:endParaRPr>
          </a:p>
          <a:p>
            <a:pPr marL="215900" indent="-215900">
              <a:lnSpc>
                <a:spcPct val="100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Char char=""/>
            </a:pPr>
            <a:r>
              <a:rPr lang="en-US" sz="1400" b="0" strike="noStrike" spc="-1">
                <a:solidFill>
                  <a:srgbClr val="000000"/>
                </a:solidFill>
                <a:latin typeface="Arial" panose="020B0604020202020204"/>
                <a:ea typeface="Times New Roman" panose="02020603050405020304"/>
              </a:rPr>
              <a:t>Inverse Dynamics Module</a:t>
            </a:r>
            <a:endParaRPr lang="en-US" sz="1400" b="0" strike="noStrike" spc="-1">
              <a:solidFill>
                <a:srgbClr val="000000"/>
              </a:solidFill>
              <a:latin typeface="Times New Roman" panose="02020603050405020304"/>
              <a:ea typeface="Times New Roman" panose="02020603050405020304"/>
            </a:endParaRPr>
          </a:p>
          <a:p>
            <a:pPr marL="215900" indent="-215900">
              <a:lnSpc>
                <a:spcPct val="100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Char char=""/>
            </a:pPr>
            <a:r>
              <a:rPr lang="en-US" sz="1400" b="0" strike="noStrike" spc="-1">
                <a:solidFill>
                  <a:srgbClr val="000000"/>
                </a:solidFill>
                <a:latin typeface="Arial" panose="020B0604020202020204"/>
                <a:ea typeface="Times New Roman" panose="02020603050405020304"/>
              </a:rPr>
              <a:t>Optimization Module</a:t>
            </a:r>
            <a:endParaRPr lang="en-US" sz="1400" b="0" strike="noStrike" spc="-1">
              <a:solidFill>
                <a:srgbClr val="000000"/>
              </a:solidFill>
              <a:latin typeface="Times New Roman" panose="02020603050405020304"/>
              <a:ea typeface="Times New Roman" panose="02020603050405020304"/>
            </a:endParaRPr>
          </a:p>
          <a:p>
            <a:pPr marL="215900" indent="-215900">
              <a:lnSpc>
                <a:spcPct val="100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Char char=""/>
            </a:pPr>
            <a:r>
              <a:rPr lang="en-US" sz="1400" b="0" strike="noStrike" spc="-1">
                <a:solidFill>
                  <a:srgbClr val="000000"/>
                </a:solidFill>
                <a:latin typeface="Arial" panose="020B0604020202020204"/>
                <a:ea typeface="Times New Roman" panose="02020603050405020304"/>
              </a:rPr>
              <a:t>FE Coupling Module</a:t>
            </a:r>
            <a:endParaRPr lang="en-US" sz="1400" b="0" strike="noStrike" spc="-1">
              <a:solidFill>
                <a:srgbClr val="000000"/>
              </a:solidFill>
              <a:latin typeface="Times New Roman" panose="02020603050405020304"/>
              <a:ea typeface="Times New Roman" panose="02020603050405020304"/>
            </a:endParaRPr>
          </a:p>
          <a:p>
            <a:pPr marL="215900" indent="-215900">
              <a:lnSpc>
                <a:spcPct val="100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Char char=""/>
            </a:pPr>
            <a:r>
              <a:rPr lang="en-US" sz="1400" b="0" strike="noStrike" spc="-1">
                <a:solidFill>
                  <a:srgbClr val="000000"/>
                </a:solidFill>
                <a:latin typeface="Arial" panose="020B0604020202020204"/>
                <a:ea typeface="Times New Roman" panose="02020603050405020304"/>
              </a:rPr>
              <a:t>Exoskeleton Module</a:t>
            </a:r>
            <a:endParaRPr lang="en-US" sz="1400" b="0" strike="noStrike" spc="-1">
              <a:solidFill>
                <a:srgbClr val="000000"/>
              </a:solidFill>
              <a:latin typeface="Times New Roman" panose="02020603050405020304"/>
              <a:ea typeface="Times New Roman" panose="02020603050405020304"/>
            </a:endParaRPr>
          </a:p>
          <a:p>
            <a:pPr indent="0">
              <a:lnSpc>
                <a:spcPct val="100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r>
              <a:rPr lang="en-US" sz="1400" b="1" strike="noStrike" spc="-1">
                <a:solidFill>
                  <a:srgbClr val="000000"/>
                </a:solidFill>
                <a:latin typeface="Arial" panose="020B0604020202020204"/>
                <a:ea typeface="Times New Roman" panose="02020603050405020304"/>
              </a:rPr>
              <a:t>Gaps and Limitations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27965" indent="-227965">
              <a:lnSpc>
                <a:spcPct val="100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 panose="020B0604020202020204"/>
                <a:ea typeface="Times New Roman" panose="02020603050405020304"/>
              </a:rPr>
              <a:t>Requires high biomechanics and computational expertise </a:t>
            </a:r>
            <a:endParaRPr lang="en-US" sz="1400" b="0" strike="noStrike" spc="-1">
              <a:solidFill>
                <a:srgbClr val="000000"/>
              </a:solidFill>
              <a:latin typeface="Times New Roman" panose="02020603050405020304"/>
              <a:ea typeface="Times New Roman" panose="02020603050405020304"/>
            </a:endParaRPr>
          </a:p>
          <a:p>
            <a:pPr marL="227965" indent="-227965">
              <a:lnSpc>
                <a:spcPct val="100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 panose="020B0604020202020204"/>
                <a:ea typeface="Times New Roman" panose="02020603050405020304"/>
              </a:rPr>
              <a:t>Long simulation times </a:t>
            </a:r>
            <a:endParaRPr lang="en-US" sz="1400" b="0" strike="noStrike" spc="-1">
              <a:solidFill>
                <a:srgbClr val="000000"/>
              </a:solidFill>
              <a:latin typeface="Times New Roman" panose="02020603050405020304"/>
              <a:ea typeface="Times New Roman" panose="02020603050405020304"/>
            </a:endParaRPr>
          </a:p>
          <a:p>
            <a:pPr marL="227965" indent="-227965">
              <a:lnSpc>
                <a:spcPct val="100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 panose="020B0604020202020204"/>
                <a:ea typeface="Times New Roman" panose="02020603050405020304"/>
              </a:rPr>
              <a:t>Less focused on industrial manufacturing ergonomics</a:t>
            </a:r>
            <a:endParaRPr lang="en-US" sz="1400" b="0" strike="noStrike" spc="-1">
              <a:solidFill>
                <a:srgbClr val="000000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3061335" y="3164840"/>
            <a:ext cx="3267710" cy="2383155"/>
          </a:xfrm>
          <a:prstGeom prst="rect">
            <a:avLst/>
          </a:prstGeom>
          <a:noFill/>
          <a:ln w="0">
            <a:solidFill>
              <a:srgbClr val="BF0041"/>
            </a:solidFill>
          </a:ln>
        </p:spPr>
        <p:txBody>
          <a:bodyPr lIns="90000" tIns="45000" rIns="90000" bIns="45000" anchor="t">
            <a:noAutofit/>
          </a:bodyPr>
          <a:p>
            <a:r>
              <a:rPr lang="en-US" sz="1400" b="1" strike="noStrike" spc="-1">
                <a:solidFill>
                  <a:srgbClr val="000000"/>
                </a:solidFill>
                <a:latin typeface="Arial" panose="020B0604020202020204"/>
              </a:rPr>
              <a:t>DELMIA modules: 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5900" indent="-215900">
              <a:lnSpc>
                <a:spcPct val="100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Char char=""/>
            </a:pPr>
            <a:r>
              <a:rPr lang="en-US" sz="1400" b="0" strike="noStrike" spc="-1">
                <a:solidFill>
                  <a:srgbClr val="000000"/>
                </a:solidFill>
                <a:latin typeface="Arial" panose="020B0604020202020204"/>
                <a:ea typeface="Times New Roman" panose="02020603050405020304"/>
              </a:rPr>
              <a:t>Ergonomics Module</a:t>
            </a:r>
            <a:endParaRPr lang="en-US" sz="1400" b="0" strike="noStrike" spc="-1">
              <a:solidFill>
                <a:srgbClr val="000000"/>
              </a:solidFill>
              <a:latin typeface="Times New Roman" panose="02020603050405020304"/>
              <a:ea typeface="Times New Roman" panose="02020603050405020304"/>
            </a:endParaRPr>
          </a:p>
          <a:p>
            <a:pPr marL="215900" indent="-215900">
              <a:lnSpc>
                <a:spcPct val="100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Char char=""/>
            </a:pPr>
            <a:r>
              <a:rPr lang="en-US" sz="1400" b="0" strike="noStrike" spc="-1">
                <a:solidFill>
                  <a:srgbClr val="000000"/>
                </a:solidFill>
                <a:latin typeface="Arial" panose="020B0604020202020204"/>
                <a:ea typeface="Times New Roman" panose="02020603050405020304"/>
              </a:rPr>
              <a:t>Human Task Simulation Module</a:t>
            </a:r>
            <a:endParaRPr lang="en-US" sz="1400" b="0" strike="noStrike" spc="-1">
              <a:solidFill>
                <a:srgbClr val="000000"/>
              </a:solidFill>
              <a:latin typeface="Times New Roman" panose="02020603050405020304"/>
              <a:ea typeface="Times New Roman" panose="02020603050405020304"/>
            </a:endParaRPr>
          </a:p>
          <a:p>
            <a:pPr marL="215900" indent="-215900">
              <a:lnSpc>
                <a:spcPct val="100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Char char=""/>
            </a:pPr>
            <a:r>
              <a:rPr lang="en-US" sz="1400" b="0" strike="noStrike" spc="-1">
                <a:solidFill>
                  <a:srgbClr val="000000"/>
                </a:solidFill>
                <a:latin typeface="Arial" panose="020B0604020202020204"/>
                <a:ea typeface="Times New Roman" panose="02020603050405020304"/>
              </a:rPr>
              <a:t>Workplace Design Module</a:t>
            </a:r>
            <a:endParaRPr lang="en-US" sz="1400" b="0" strike="noStrike" spc="-1">
              <a:solidFill>
                <a:srgbClr val="000000"/>
              </a:solidFill>
              <a:latin typeface="Times New Roman" panose="02020603050405020304"/>
              <a:ea typeface="Times New Roman" panose="02020603050405020304"/>
            </a:endParaRPr>
          </a:p>
          <a:p>
            <a:pPr marL="215900" indent="-215900">
              <a:lnSpc>
                <a:spcPct val="100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Char char=""/>
            </a:pPr>
            <a:r>
              <a:rPr lang="en-US" sz="1400" b="0" strike="noStrike" spc="-1">
                <a:solidFill>
                  <a:srgbClr val="000000"/>
                </a:solidFill>
                <a:latin typeface="Arial" panose="020B0604020202020204"/>
                <a:ea typeface="Times New Roman" panose="02020603050405020304"/>
              </a:rPr>
              <a:t>Motion Analysis Module</a:t>
            </a:r>
            <a:endParaRPr lang="en-US" sz="1400" b="0" strike="noStrike" spc="-1">
              <a:solidFill>
                <a:srgbClr val="000000"/>
              </a:solidFill>
              <a:latin typeface="Times New Roman" panose="02020603050405020304"/>
              <a:ea typeface="Times New Roman" panose="02020603050405020304"/>
            </a:endParaRPr>
          </a:p>
          <a:p>
            <a:pPr marL="215900" indent="-215900">
              <a:lnSpc>
                <a:spcPct val="100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Char char=""/>
            </a:pPr>
            <a:r>
              <a:rPr lang="en-US" sz="1400" b="0" strike="noStrike" spc="-1">
                <a:solidFill>
                  <a:srgbClr val="000000"/>
                </a:solidFill>
                <a:latin typeface="Arial" panose="020B0604020202020204"/>
                <a:ea typeface="Times New Roman" panose="02020603050405020304"/>
              </a:rPr>
              <a:t>Manufacturing Planning Module</a:t>
            </a:r>
            <a:endParaRPr lang="en-US" sz="1400" b="0" strike="noStrike" spc="-1">
              <a:solidFill>
                <a:srgbClr val="000000"/>
              </a:solidFill>
              <a:latin typeface="Times New Roman" panose="02020603050405020304"/>
              <a:ea typeface="Times New Roman" panose="02020603050405020304"/>
            </a:endParaRPr>
          </a:p>
          <a:p>
            <a:r>
              <a:rPr lang="en-US" sz="1400" b="1" strike="noStrike" spc="-1">
                <a:solidFill>
                  <a:srgbClr val="000000"/>
                </a:solidFill>
                <a:latin typeface="Arial" panose="020B0604020202020204"/>
                <a:ea typeface="Times New Roman" panose="02020603050405020304"/>
              </a:rPr>
              <a:t>Gaps and Limitations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27965" indent="-227965">
              <a:lnSpc>
                <a:spcPct val="100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 panose="020B0604020202020204"/>
                <a:ea typeface="Times New Roman" panose="02020603050405020304"/>
              </a:rPr>
              <a:t>Limited internal biomechanics analysis </a:t>
            </a:r>
            <a:endParaRPr lang="en-US" sz="1400" b="0" strike="noStrike" spc="-1">
              <a:solidFill>
                <a:srgbClr val="000000"/>
              </a:solidFill>
              <a:latin typeface="Times New Roman" panose="02020603050405020304"/>
              <a:ea typeface="Times New Roman" panose="02020603050405020304"/>
            </a:endParaRPr>
          </a:p>
          <a:p>
            <a:pPr marL="227965" indent="-227965">
              <a:lnSpc>
                <a:spcPct val="100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 panose="020B0604020202020204"/>
                <a:ea typeface="Times New Roman" panose="02020603050405020304"/>
              </a:rPr>
              <a:t>Muscle force prediction is weak </a:t>
            </a:r>
            <a:endParaRPr lang="en-US" sz="1400" b="0" strike="noStrike" spc="-1">
              <a:solidFill>
                <a:srgbClr val="000000"/>
              </a:solidFill>
              <a:latin typeface="Times New Roman" panose="02020603050405020304"/>
              <a:ea typeface="Times New Roman" panose="02020603050405020304"/>
            </a:endParaRPr>
          </a:p>
          <a:p>
            <a:pPr marL="227965" indent="-227965">
              <a:lnSpc>
                <a:spcPct val="100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 panose="020B0604020202020204"/>
                <a:ea typeface="Times New Roman" panose="02020603050405020304"/>
              </a:rPr>
              <a:t>Complex enterprise integration </a:t>
            </a:r>
            <a:endParaRPr lang="en-US" sz="1400" b="0" strike="noStrike" spc="-1">
              <a:solidFill>
                <a:srgbClr val="000000"/>
              </a:solidFill>
              <a:latin typeface="Times New Roman" panose="02020603050405020304"/>
              <a:ea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1581</Words>
  <Application>WPS Presentation</Application>
  <PresentationFormat/>
  <Paragraphs>67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3" baseType="lpstr">
      <vt:lpstr>Arial</vt:lpstr>
      <vt:lpstr>SimSun</vt:lpstr>
      <vt:lpstr>Wingdings</vt:lpstr>
      <vt:lpstr>Arial</vt:lpstr>
      <vt:lpstr>Symbol</vt:lpstr>
      <vt:lpstr>Times New Roman</vt:lpstr>
      <vt:lpstr>OpenSymbol</vt:lpstr>
      <vt:lpstr>Segoe Print</vt:lpstr>
      <vt:lpstr>Microsoft YaHei</vt:lpstr>
      <vt:lpstr>Arial Unicode MS</vt:lpstr>
      <vt:lpstr>Calibri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hp</cp:lastModifiedBy>
  <cp:revision>15</cp:revision>
  <dcterms:created xsi:type="dcterms:W3CDTF">2026-06-08T13:50:00Z</dcterms:created>
  <dcterms:modified xsi:type="dcterms:W3CDTF">2026-06-08T09:29:32Z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F4698C9A2DAB48E28DE6509780D5DB1E_12</vt:lpwstr>
  </property>
  <property fmtid="{D5CDD505-2E9C-101B-9397-08002B2CF9AE}" pid="3" name="KSOProductBuildVer">
    <vt:lpwstr>1033-12.1.0.26880</vt:lpwstr>
  </property>
</Properties>
</file>